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03" r:id="rId1"/>
  </p:sldMasterIdLst>
  <p:sldIdLst>
    <p:sldId id="256" r:id="rId2"/>
    <p:sldId id="263" r:id="rId3"/>
    <p:sldId id="257" r:id="rId4"/>
    <p:sldId id="258" r:id="rId5"/>
    <p:sldId id="259" r:id="rId6"/>
    <p:sldId id="264" r:id="rId7"/>
    <p:sldId id="268" r:id="rId8"/>
    <p:sldId id="265" r:id="rId9"/>
    <p:sldId id="267" r:id="rId10"/>
    <p:sldId id="266" r:id="rId11"/>
    <p:sldId id="260" r:id="rId12"/>
    <p:sldId id="261" r:id="rId13"/>
    <p:sldId id="262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23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/>
          <p:cNvGrpSpPr/>
          <p:nvPr/>
        </p:nvGrpSpPr>
        <p:grpSpPr>
          <a:xfrm>
            <a:off x="203200" y="0"/>
            <a:ext cx="3778250" cy="6858001"/>
            <a:chOff x="203200" y="0"/>
            <a:chExt cx="3778250" cy="6858001"/>
          </a:xfrm>
        </p:grpSpPr>
        <p:sp>
          <p:nvSpPr>
            <p:cNvPr id="14" name="Freeform 6"/>
            <p:cNvSpPr/>
            <p:nvPr/>
          </p:nvSpPr>
          <p:spPr bwMode="auto">
            <a:xfrm>
              <a:off x="641350" y="0"/>
              <a:ext cx="1365250" cy="3971925"/>
            </a:xfrm>
            <a:custGeom>
              <a:avLst/>
              <a:gdLst/>
              <a:ahLst/>
              <a:cxnLst/>
              <a:rect l="0" t="0" r="r" b="b"/>
              <a:pathLst>
                <a:path w="860" h="2502">
                  <a:moveTo>
                    <a:pt x="0" y="2445"/>
                  </a:moveTo>
                  <a:lnTo>
                    <a:pt x="228" y="2502"/>
                  </a:lnTo>
                  <a:lnTo>
                    <a:pt x="860" y="0"/>
                  </a:lnTo>
                  <a:lnTo>
                    <a:pt x="620" y="0"/>
                  </a:lnTo>
                  <a:lnTo>
                    <a:pt x="0" y="24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5" name="Freeform 7"/>
            <p:cNvSpPr/>
            <p:nvPr/>
          </p:nvSpPr>
          <p:spPr bwMode="auto">
            <a:xfrm>
              <a:off x="203200" y="0"/>
              <a:ext cx="1336675" cy="3862388"/>
            </a:xfrm>
            <a:custGeom>
              <a:avLst/>
              <a:gdLst/>
              <a:ahLst/>
              <a:cxnLst/>
              <a:rect l="0" t="0" r="r" b="b"/>
              <a:pathLst>
                <a:path w="842" h="2433">
                  <a:moveTo>
                    <a:pt x="842" y="0"/>
                  </a:moveTo>
                  <a:lnTo>
                    <a:pt x="602" y="0"/>
                  </a:lnTo>
                  <a:lnTo>
                    <a:pt x="0" y="2376"/>
                  </a:lnTo>
                  <a:lnTo>
                    <a:pt x="228" y="2433"/>
                  </a:lnTo>
                  <a:lnTo>
                    <a:pt x="842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6" name="Freeform 8"/>
            <p:cNvSpPr/>
            <p:nvPr/>
          </p:nvSpPr>
          <p:spPr bwMode="auto">
            <a:xfrm>
              <a:off x="207963" y="3776663"/>
              <a:ext cx="1936750" cy="3081338"/>
            </a:xfrm>
            <a:custGeom>
              <a:avLst/>
              <a:gdLst/>
              <a:ahLst/>
              <a:cxnLst/>
              <a:rect l="0" t="0" r="r" b="b"/>
              <a:pathLst>
                <a:path w="1220" h="1941">
                  <a:moveTo>
                    <a:pt x="0" y="0"/>
                  </a:moveTo>
                  <a:lnTo>
                    <a:pt x="1166" y="1941"/>
                  </a:lnTo>
                  <a:lnTo>
                    <a:pt x="1220" y="19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0" name="Freeform 9"/>
            <p:cNvSpPr/>
            <p:nvPr/>
          </p:nvSpPr>
          <p:spPr bwMode="auto">
            <a:xfrm>
              <a:off x="646113" y="3886200"/>
              <a:ext cx="2373313" cy="2971800"/>
            </a:xfrm>
            <a:custGeom>
              <a:avLst/>
              <a:gdLst/>
              <a:ahLst/>
              <a:cxnLst/>
              <a:rect l="0" t="0" r="r" b="b"/>
              <a:pathLst>
                <a:path w="1495" h="1872">
                  <a:moveTo>
                    <a:pt x="1495" y="1872"/>
                  </a:moveTo>
                  <a:lnTo>
                    <a:pt x="0" y="0"/>
                  </a:lnTo>
                  <a:lnTo>
                    <a:pt x="1442" y="1872"/>
                  </a:lnTo>
                  <a:lnTo>
                    <a:pt x="1495" y="1872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1" name="Freeform 10"/>
            <p:cNvSpPr/>
            <p:nvPr/>
          </p:nvSpPr>
          <p:spPr bwMode="auto">
            <a:xfrm>
              <a:off x="641350" y="3881438"/>
              <a:ext cx="3340100" cy="2976563"/>
            </a:xfrm>
            <a:custGeom>
              <a:avLst/>
              <a:gdLst/>
              <a:ahLst/>
              <a:cxnLst/>
              <a:rect l="0" t="0" r="r" b="b"/>
              <a:pathLst>
                <a:path w="2104" h="1875">
                  <a:moveTo>
                    <a:pt x="0" y="0"/>
                  </a:moveTo>
                  <a:lnTo>
                    <a:pt x="3" y="3"/>
                  </a:lnTo>
                  <a:lnTo>
                    <a:pt x="1498" y="1875"/>
                  </a:lnTo>
                  <a:lnTo>
                    <a:pt x="2104" y="1875"/>
                  </a:lnTo>
                  <a:lnTo>
                    <a:pt x="228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2" name="Freeform 11"/>
            <p:cNvSpPr/>
            <p:nvPr/>
          </p:nvSpPr>
          <p:spPr bwMode="auto">
            <a:xfrm>
              <a:off x="203200" y="3771900"/>
              <a:ext cx="2660650" cy="3086100"/>
            </a:xfrm>
            <a:custGeom>
              <a:avLst/>
              <a:gdLst/>
              <a:ahLst/>
              <a:cxnLst/>
              <a:rect l="0" t="0" r="r" b="b"/>
              <a:pathLst>
                <a:path w="1676" h="1944">
                  <a:moveTo>
                    <a:pt x="1676" y="1944"/>
                  </a:moveTo>
                  <a:lnTo>
                    <a:pt x="264" y="111"/>
                  </a:lnTo>
                  <a:lnTo>
                    <a:pt x="225" y="60"/>
                  </a:lnTo>
                  <a:lnTo>
                    <a:pt x="228" y="60"/>
                  </a:lnTo>
                  <a:lnTo>
                    <a:pt x="264" y="111"/>
                  </a:lnTo>
                  <a:lnTo>
                    <a:pt x="234" y="69"/>
                  </a:lnTo>
                  <a:lnTo>
                    <a:pt x="228" y="57"/>
                  </a:lnTo>
                  <a:lnTo>
                    <a:pt x="222" y="54"/>
                  </a:lnTo>
                  <a:lnTo>
                    <a:pt x="0" y="0"/>
                  </a:lnTo>
                  <a:lnTo>
                    <a:pt x="3" y="3"/>
                  </a:lnTo>
                  <a:lnTo>
                    <a:pt x="1223" y="1944"/>
                  </a:lnTo>
                  <a:lnTo>
                    <a:pt x="1676" y="1944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39673" y="914401"/>
            <a:ext cx="6947127" cy="3488266"/>
          </a:xfrm>
        </p:spPr>
        <p:txBody>
          <a:bodyPr anchor="b">
            <a:normAutofit/>
          </a:bodyPr>
          <a:lstStyle>
            <a:lvl1pPr algn="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24238" y="4402666"/>
            <a:ext cx="5762563" cy="1364531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25773" y="6117336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23733" y="6117336"/>
            <a:ext cx="360943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5320" y="6117336"/>
            <a:ext cx="41148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Freeform 12"/>
          <p:cNvSpPr/>
          <p:nvPr/>
        </p:nvSpPr>
        <p:spPr bwMode="auto">
          <a:xfrm>
            <a:off x="203200" y="3771900"/>
            <a:ext cx="361950" cy="90488"/>
          </a:xfrm>
          <a:custGeom>
            <a:avLst/>
            <a:gdLst/>
            <a:ahLst/>
            <a:cxnLst/>
            <a:rect l="0" t="0" r="r" b="b"/>
            <a:pathLst>
              <a:path w="228" h="57">
                <a:moveTo>
                  <a:pt x="228" y="57"/>
                </a:moveTo>
                <a:lnTo>
                  <a:pt x="0" y="0"/>
                </a:lnTo>
                <a:lnTo>
                  <a:pt x="222" y="54"/>
                </a:lnTo>
                <a:lnTo>
                  <a:pt x="228" y="57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4" name="Freeform 13"/>
          <p:cNvSpPr/>
          <p:nvPr/>
        </p:nvSpPr>
        <p:spPr bwMode="auto">
          <a:xfrm>
            <a:off x="560388" y="3867150"/>
            <a:ext cx="61913" cy="80963"/>
          </a:xfrm>
          <a:custGeom>
            <a:avLst/>
            <a:gdLst/>
            <a:ahLst/>
            <a:cxnLst/>
            <a:rect l="0" t="0" r="r" b="b"/>
            <a:pathLst>
              <a:path w="39" h="51">
                <a:moveTo>
                  <a:pt x="0" y="0"/>
                </a:moveTo>
                <a:lnTo>
                  <a:pt x="39" y="51"/>
                </a:lnTo>
                <a:lnTo>
                  <a:pt x="3" y="0"/>
                </a:lnTo>
                <a:lnTo>
                  <a:pt x="0" y="0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</p:spTree>
    <p:extLst>
      <p:ext uri="{BB962C8B-B14F-4D97-AF65-F5344CB8AC3E}">
        <p14:creationId xmlns:p14="http://schemas.microsoft.com/office/powerpoint/2010/main" val="3108740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667000"/>
            <a:ext cx="7704667" cy="333281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44329" y="6108173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72647" y="6108173"/>
            <a:ext cx="5314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3118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6995" y="2666998"/>
            <a:ext cx="6699805" cy="2360071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6998" y="5027070"/>
            <a:ext cx="6699802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3317" y="6116070"/>
            <a:ext cx="41348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2089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685801"/>
            <a:ext cx="7704667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82133" y="2667000"/>
            <a:ext cx="3739896" cy="336867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46904" y="2667000"/>
            <a:ext cx="3739896" cy="334682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262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9481" y="2658533"/>
            <a:ext cx="345629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3523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61710" y="2667000"/>
            <a:ext cx="3467806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57266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0304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9617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322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1600200"/>
            <a:ext cx="2662534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7553" y="685800"/>
            <a:ext cx="4681962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4" y="2971800"/>
            <a:ext cx="2662534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1477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2332" y="1752599"/>
            <a:ext cx="4070679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97495" y="914400"/>
            <a:ext cx="2461371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2332" y="3124199"/>
            <a:ext cx="4070679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4921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3" y="4732865"/>
            <a:ext cx="751599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89975" y="932112"/>
            <a:ext cx="6171065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3" y="5299603"/>
            <a:ext cx="751599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6003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685800"/>
            <a:ext cx="751599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1689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598235" y="3428999"/>
            <a:ext cx="6631128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3" y="4343400"/>
            <a:ext cx="751599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2567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3308581"/>
            <a:ext cx="751598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7381"/>
            <a:ext cx="751599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9395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5" y="3886200"/>
            <a:ext cx="751599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5200"/>
            <a:ext cx="751599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2027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685801"/>
            <a:ext cx="7515991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4" y="3505200"/>
            <a:ext cx="7515992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5786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4034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1393" y="685800"/>
            <a:ext cx="1328123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3524" y="685800"/>
            <a:ext cx="6016373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1581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0"/>
            <a:ext cx="2132013" cy="6858001"/>
            <a:chOff x="0" y="0"/>
            <a:chExt cx="2132013" cy="6858001"/>
          </a:xfrm>
        </p:grpSpPr>
        <p:sp>
          <p:nvSpPr>
            <p:cNvPr id="15" name="Freeform 6"/>
            <p:cNvSpPr/>
            <p:nvPr/>
          </p:nvSpPr>
          <p:spPr bwMode="auto">
            <a:xfrm>
              <a:off x="0" y="0"/>
              <a:ext cx="1073150" cy="5291138"/>
            </a:xfrm>
            <a:custGeom>
              <a:avLst/>
              <a:gdLst/>
              <a:ahLst/>
              <a:cxnLst/>
              <a:rect l="0" t="0" r="r" b="b"/>
              <a:pathLst>
                <a:path w="676" h="3333">
                  <a:moveTo>
                    <a:pt x="0" y="3132"/>
                  </a:moveTo>
                  <a:lnTo>
                    <a:pt x="0" y="3312"/>
                  </a:lnTo>
                  <a:lnTo>
                    <a:pt x="126" y="3333"/>
                  </a:lnTo>
                  <a:lnTo>
                    <a:pt x="676" y="0"/>
                  </a:lnTo>
                  <a:lnTo>
                    <a:pt x="514" y="0"/>
                  </a:lnTo>
                  <a:lnTo>
                    <a:pt x="0" y="313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6" name="Freeform 7"/>
            <p:cNvSpPr/>
            <p:nvPr/>
          </p:nvSpPr>
          <p:spPr bwMode="auto">
            <a:xfrm>
              <a:off x="0" y="0"/>
              <a:ext cx="758825" cy="4624388"/>
            </a:xfrm>
            <a:custGeom>
              <a:avLst/>
              <a:gdLst/>
              <a:ahLst/>
              <a:cxnLst/>
              <a:rect l="0" t="0" r="r" b="b"/>
              <a:pathLst>
                <a:path w="478" h="2913">
                  <a:moveTo>
                    <a:pt x="478" y="0"/>
                  </a:moveTo>
                  <a:lnTo>
                    <a:pt x="318" y="0"/>
                  </a:lnTo>
                  <a:lnTo>
                    <a:pt x="0" y="1938"/>
                  </a:lnTo>
                  <a:lnTo>
                    <a:pt x="0" y="2913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7" name="Freeform 8"/>
            <p:cNvSpPr/>
            <p:nvPr/>
          </p:nvSpPr>
          <p:spPr bwMode="auto">
            <a:xfrm>
              <a:off x="0" y="5662613"/>
              <a:ext cx="906463" cy="1195388"/>
            </a:xfrm>
            <a:custGeom>
              <a:avLst/>
              <a:gdLst/>
              <a:ahLst/>
              <a:cxnLst/>
              <a:rect l="0" t="0" r="r" b="b"/>
              <a:pathLst>
                <a:path w="571" h="753">
                  <a:moveTo>
                    <a:pt x="0" y="0"/>
                  </a:moveTo>
                  <a:lnTo>
                    <a:pt x="0" y="12"/>
                  </a:lnTo>
                  <a:lnTo>
                    <a:pt x="538" y="753"/>
                  </a:lnTo>
                  <a:lnTo>
                    <a:pt x="571" y="7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8" name="Freeform 9"/>
            <p:cNvSpPr/>
            <p:nvPr/>
          </p:nvSpPr>
          <p:spPr bwMode="auto">
            <a:xfrm>
              <a:off x="0" y="5295900"/>
              <a:ext cx="1487488" cy="1562100"/>
            </a:xfrm>
            <a:custGeom>
              <a:avLst/>
              <a:gdLst/>
              <a:ahLst/>
              <a:cxnLst/>
              <a:rect l="0" t="0" r="r" b="b"/>
              <a:pathLst>
                <a:path w="937" h="984">
                  <a:moveTo>
                    <a:pt x="0" y="0"/>
                  </a:moveTo>
                  <a:lnTo>
                    <a:pt x="0" y="3"/>
                  </a:lnTo>
                  <a:lnTo>
                    <a:pt x="901" y="984"/>
                  </a:lnTo>
                  <a:lnTo>
                    <a:pt x="937" y="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9" name="Freeform 10"/>
            <p:cNvSpPr/>
            <p:nvPr/>
          </p:nvSpPr>
          <p:spPr bwMode="auto">
            <a:xfrm>
              <a:off x="0" y="5257800"/>
              <a:ext cx="2132013" cy="1600200"/>
            </a:xfrm>
            <a:custGeom>
              <a:avLst/>
              <a:gdLst/>
              <a:ahLst/>
              <a:cxnLst/>
              <a:rect l="0" t="0" r="r" b="b"/>
              <a:pathLst>
                <a:path w="1343" h="1008">
                  <a:moveTo>
                    <a:pt x="0" y="24"/>
                  </a:moveTo>
                  <a:lnTo>
                    <a:pt x="937" y="1008"/>
                  </a:lnTo>
                  <a:lnTo>
                    <a:pt x="1343" y="1008"/>
                  </a:lnTo>
                  <a:lnTo>
                    <a:pt x="126" y="21"/>
                  </a:lnTo>
                  <a:lnTo>
                    <a:pt x="0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0" name="Freeform 11"/>
            <p:cNvSpPr/>
            <p:nvPr/>
          </p:nvSpPr>
          <p:spPr bwMode="auto">
            <a:xfrm>
              <a:off x="0" y="5357813"/>
              <a:ext cx="1377950" cy="1500188"/>
            </a:xfrm>
            <a:custGeom>
              <a:avLst/>
              <a:gdLst/>
              <a:ahLst/>
              <a:cxnLst/>
              <a:rect l="0" t="0" r="r" b="b"/>
              <a:pathLst>
                <a:path w="868" h="945">
                  <a:moveTo>
                    <a:pt x="0" y="192"/>
                  </a:moveTo>
                  <a:lnTo>
                    <a:pt x="571" y="945"/>
                  </a:lnTo>
                  <a:lnTo>
                    <a:pt x="868" y="945"/>
                  </a:lnTo>
                  <a:lnTo>
                    <a:pt x="0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134" y="2667000"/>
            <a:ext cx="7704666" cy="33569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8679" y="6116070"/>
            <a:ext cx="8574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6997" y="6116070"/>
            <a:ext cx="5314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73317" y="6116070"/>
            <a:ext cx="4134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4198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4" r:id="rId1"/>
    <p:sldLayoutId id="2147483805" r:id="rId2"/>
    <p:sldLayoutId id="2147483806" r:id="rId3"/>
    <p:sldLayoutId id="2147483807" r:id="rId4"/>
    <p:sldLayoutId id="2147483808" r:id="rId5"/>
    <p:sldLayoutId id="2147483809" r:id="rId6"/>
    <p:sldLayoutId id="2147483810" r:id="rId7"/>
    <p:sldLayoutId id="2147483811" r:id="rId8"/>
    <p:sldLayoutId id="2147483812" r:id="rId9"/>
    <p:sldLayoutId id="2147483813" r:id="rId10"/>
    <p:sldLayoutId id="2147483814" r:id="rId11"/>
    <p:sldLayoutId id="2147483815" r:id="rId12"/>
    <p:sldLayoutId id="2147483816" r:id="rId13"/>
    <p:sldLayoutId id="2147483817" r:id="rId14"/>
    <p:sldLayoutId id="2147483818" r:id="rId15"/>
    <p:sldLayoutId id="2147483819" r:id="rId16"/>
    <p:sldLayoutId id="2147483820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59932"/>
            <a:ext cx="7772400" cy="1470025"/>
          </a:xfrm>
        </p:spPr>
        <p:txBody>
          <a:bodyPr>
            <a:normAutofit/>
          </a:bodyPr>
          <a:lstStyle/>
          <a:p>
            <a:r>
              <a:rPr sz="6000" dirty="0">
                <a:latin typeface="Arial Rounded MT Bold" panose="020F0704030504030204" pitchFamily="34" charset="0"/>
              </a:rPr>
              <a:t>Campus Ass</a:t>
            </a:r>
            <a:r>
              <a:rPr lang="tr-TR" sz="6000" dirty="0">
                <a:latin typeface="Arial Rounded MT Bold" panose="020F0704030504030204" pitchFamily="34" charset="0"/>
              </a:rPr>
              <a:t>ı</a:t>
            </a:r>
            <a:r>
              <a:rPr sz="6000" dirty="0" err="1">
                <a:latin typeface="Arial Rounded MT Bold" panose="020F0704030504030204" pitchFamily="34" charset="0"/>
              </a:rPr>
              <a:t>stant</a:t>
            </a:r>
            <a:endParaRPr sz="6000" dirty="0">
              <a:latin typeface="Arial Rounded MT Bold" panose="020F070403050403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69533" y="3069168"/>
            <a:ext cx="6400800" cy="2628900"/>
          </a:xfrm>
        </p:spPr>
        <p:txBody>
          <a:bodyPr>
            <a:normAutofit/>
          </a:bodyPr>
          <a:lstStyle/>
          <a:p>
            <a:r>
              <a:rPr sz="20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Mobile Application Programming Project</a:t>
            </a:r>
          </a:p>
          <a:p>
            <a:r>
              <a:rPr sz="200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Beykent</a:t>
            </a:r>
            <a:r>
              <a:rPr sz="20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University</a:t>
            </a:r>
          </a:p>
          <a:p>
            <a:r>
              <a:rPr lang="tr-TR" sz="20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Onur Kardeş</a:t>
            </a:r>
            <a:endParaRPr sz="2000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sz="20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Computer Engineering Department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888D50-14AA-2988-DA20-C29C7A21B2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6919" y="847722"/>
            <a:ext cx="1133477" cy="113347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conveyor dir="l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EF990-3DAE-F3A5-E503-B85250C21E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066" y="0"/>
            <a:ext cx="7704667" cy="1981200"/>
          </a:xfrm>
        </p:spPr>
        <p:txBody>
          <a:bodyPr/>
          <a:lstStyle/>
          <a:p>
            <a:r>
              <a:rPr lang="en-US" dirty="0">
                <a:latin typeface="Arial Rounded MT Bold" panose="020F0704030504030204" pitchFamily="34" charset="0"/>
              </a:rPr>
              <a:t>Campus Ass</a:t>
            </a:r>
            <a:r>
              <a:rPr lang="tr-TR" dirty="0">
                <a:latin typeface="Arial Rounded MT Bold" panose="020F0704030504030204" pitchFamily="34" charset="0"/>
              </a:rPr>
              <a:t>i</a:t>
            </a:r>
            <a:r>
              <a:rPr lang="en-US" dirty="0" err="1">
                <a:latin typeface="Arial Rounded MT Bold" panose="020F0704030504030204" pitchFamily="34" charset="0"/>
              </a:rPr>
              <a:t>stant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7B5D494-D326-87DF-65D1-4045370A70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45933" y="1507774"/>
            <a:ext cx="2846791" cy="5155491"/>
          </a:xfrm>
        </p:spPr>
      </p:pic>
    </p:spTree>
    <p:extLst>
      <p:ext uri="{BB962C8B-B14F-4D97-AF65-F5344CB8AC3E}">
        <p14:creationId xmlns:p14="http://schemas.microsoft.com/office/powerpoint/2010/main" val="28692097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rial Rounded MT Bold" panose="020F0704030504030204" pitchFamily="34" charset="0"/>
              </a:rPr>
              <a:t>Project Team &amp; Responsibilities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93799" y="1651000"/>
            <a:ext cx="7704667" cy="4348816"/>
          </a:xfrm>
        </p:spPr>
        <p:txBody>
          <a:bodyPr/>
          <a:lstStyle/>
          <a:p>
            <a:pPr>
              <a:defRPr sz="2000"/>
            </a:pPr>
            <a:r>
              <a:rPr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Türkü Çağlar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lang="tr-T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u="sng" dirty="0">
                <a:latin typeface="Arial" panose="020B0604020202020204" pitchFamily="34" charset="0"/>
                <a:cs typeface="Arial" panose="020B0604020202020204" pitchFamily="34" charset="0"/>
              </a:rPr>
              <a:t>Application Logic &amp; Feature Integration</a:t>
            </a:r>
            <a:endParaRPr u="sng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 sz="2000"/>
            </a:pPr>
            <a:r>
              <a:rPr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Rukiye Ebrar </a:t>
            </a:r>
            <a:r>
              <a:rPr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Gerçek</a:t>
            </a:r>
            <a:r>
              <a:rPr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– </a:t>
            </a:r>
            <a:r>
              <a:rPr lang="en-US" u="sng" dirty="0">
                <a:latin typeface="Arial" panose="020B0604020202020204" pitchFamily="34" charset="0"/>
                <a:cs typeface="Arial" panose="020B0604020202020204" pitchFamily="34" charset="0"/>
              </a:rPr>
              <a:t>UI/UX Design &amp; Screen Layouts</a:t>
            </a:r>
            <a:endParaRPr u="sng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 sz="2000"/>
            </a:pPr>
            <a:r>
              <a:rPr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Melis </a:t>
            </a:r>
            <a:r>
              <a:rPr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Özyazıcı</a:t>
            </a:r>
            <a:r>
              <a:rPr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– </a:t>
            </a:r>
            <a:r>
              <a:rPr u="sng" dirty="0">
                <a:latin typeface="Arial" panose="020B0604020202020204" pitchFamily="34" charset="0"/>
                <a:cs typeface="Arial" panose="020B0604020202020204" pitchFamily="34" charset="0"/>
              </a:rPr>
              <a:t>Flutter UI Implementation</a:t>
            </a:r>
          </a:p>
          <a:p>
            <a:pPr>
              <a:defRPr sz="2000"/>
            </a:pPr>
            <a:r>
              <a:rPr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Deniz Umut Bayrak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– </a:t>
            </a:r>
            <a:r>
              <a:rPr lang="en-US" u="sng" dirty="0">
                <a:latin typeface="Arial" panose="020B0604020202020204" pitchFamily="34" charset="0"/>
                <a:cs typeface="Arial" panose="020B0604020202020204" pitchFamily="34" charset="0"/>
              </a:rPr>
              <a:t>Testing, Debugging &amp; Presentation </a:t>
            </a:r>
            <a:endParaRPr u="sng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 sz="2000"/>
            </a:pPr>
            <a:r>
              <a:rPr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Kaan Yiğit Arslan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– </a:t>
            </a:r>
            <a:r>
              <a:rPr lang="en-US" u="sng" dirty="0">
                <a:latin typeface="Arial" panose="020B0604020202020204" pitchFamily="34" charset="0"/>
                <a:cs typeface="Arial" panose="020B0604020202020204" pitchFamily="34" charset="0"/>
              </a:rPr>
              <a:t>Research, Analysis &amp; Documentation</a:t>
            </a:r>
            <a:endParaRPr u="sng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3665" y="321734"/>
            <a:ext cx="7704667" cy="1981200"/>
          </a:xfrm>
        </p:spPr>
        <p:txBody>
          <a:bodyPr/>
          <a:lstStyle/>
          <a:p>
            <a:r>
              <a:rPr dirty="0">
                <a:latin typeface="Arial Rounded MT Bold" panose="020F0704030504030204" pitchFamily="34" charset="0"/>
              </a:rPr>
              <a:t>Problem 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0665" y="2065867"/>
            <a:ext cx="7704667" cy="3332816"/>
          </a:xfrm>
        </p:spPr>
        <p:txBody>
          <a:bodyPr>
            <a:normAutofit fontScale="92500" lnSpcReduction="10000"/>
          </a:bodyPr>
          <a:lstStyle/>
          <a:p>
            <a:pPr>
              <a:defRPr sz="2000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Students are required to access academic information through multiple platforms. </a:t>
            </a:r>
            <a:endParaRPr lang="tr-T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 sz="2000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Newly enrolled students have difficulty finding classrooms and lecture locations. </a:t>
            </a:r>
            <a:endParaRPr lang="tr-T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 sz="2000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Communication between students and academic staff is insufficient.</a:t>
            </a:r>
            <a:endParaRPr lang="tr-T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 sz="2000"/>
            </a:pPr>
            <a:r>
              <a:rPr lang="tr-T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tr-TR" dirty="0" err="1">
                <a:latin typeface="Arial" panose="020B0604020202020204" pitchFamily="34" charset="0"/>
                <a:cs typeface="Arial" panose="020B0604020202020204" pitchFamily="34" charset="0"/>
              </a:rPr>
              <a:t>There</a:t>
            </a:r>
            <a:r>
              <a:rPr lang="tr-TR" dirty="0">
                <a:latin typeface="Arial" panose="020B0604020202020204" pitchFamily="34" charset="0"/>
                <a:cs typeface="Arial" panose="020B0604020202020204" pitchFamily="34" charset="0"/>
              </a:rPr>
              <a:t> is a </a:t>
            </a:r>
            <a:r>
              <a:rPr lang="tr-TR" dirty="0" err="1">
                <a:latin typeface="Arial" panose="020B0604020202020204" pitchFamily="34" charset="0"/>
                <a:cs typeface="Arial" panose="020B0604020202020204" pitchFamily="34" charset="0"/>
              </a:rPr>
              <a:t>lack</a:t>
            </a:r>
            <a:r>
              <a:rPr lang="tr-TR" dirty="0">
                <a:latin typeface="Arial" panose="020B0604020202020204" pitchFamily="34" charset="0"/>
                <a:cs typeface="Arial" panose="020B0604020202020204" pitchFamily="34" charset="0"/>
              </a:rPr>
              <a:t> of  a Beykent </a:t>
            </a:r>
            <a:r>
              <a:rPr lang="tr-TR" dirty="0" err="1">
                <a:latin typeface="Arial" panose="020B0604020202020204" pitchFamily="34" charset="0"/>
                <a:cs typeface="Arial" panose="020B0604020202020204" pitchFamily="34" charset="0"/>
              </a:rPr>
              <a:t>University-specific</a:t>
            </a:r>
            <a:r>
              <a:rPr lang="tr-T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tr-TR" dirty="0" err="1">
                <a:latin typeface="Arial" panose="020B0604020202020204" pitchFamily="34" charset="0"/>
                <a:cs typeface="Arial" panose="020B0604020202020204" pitchFamily="34" charset="0"/>
              </a:rPr>
              <a:t>centralized</a:t>
            </a:r>
            <a:r>
              <a:rPr lang="tr-T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tr-TR" dirty="0" err="1">
                <a:latin typeface="Arial" panose="020B0604020202020204" pitchFamily="34" charset="0"/>
                <a:cs typeface="Arial" panose="020B0604020202020204" pitchFamily="34" charset="0"/>
              </a:rPr>
              <a:t>digital</a:t>
            </a:r>
            <a:r>
              <a:rPr lang="tr-TR" dirty="0">
                <a:latin typeface="Arial" panose="020B0604020202020204" pitchFamily="34" charset="0"/>
                <a:cs typeface="Arial" panose="020B0604020202020204" pitchFamily="34" charset="0"/>
              </a:rPr>
              <a:t> platform</a:t>
            </a:r>
          </a:p>
          <a:p>
            <a:pPr>
              <a:defRPr sz="2000"/>
            </a:pPr>
            <a:r>
              <a:rPr lang="tr-TR" dirty="0" err="1">
                <a:latin typeface="Arial" panose="020B0604020202020204" pitchFamily="34" charset="0"/>
                <a:cs typeface="Arial" panose="020B0604020202020204" pitchFamily="34" charset="0"/>
              </a:rPr>
              <a:t>There</a:t>
            </a:r>
            <a:r>
              <a:rPr lang="tr-TR" dirty="0">
                <a:latin typeface="Arial" panose="020B0604020202020204" pitchFamily="34" charset="0"/>
                <a:cs typeface="Arial" panose="020B0604020202020204" pitchFamily="34" charset="0"/>
              </a:rPr>
              <a:t> is </a:t>
            </a:r>
            <a:r>
              <a:rPr lang="tr-TR" dirty="0" err="1"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r>
              <a:rPr lang="tr-T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tr-TR" dirty="0" err="1">
                <a:latin typeface="Arial" panose="020B0604020202020204" pitchFamily="34" charset="0"/>
                <a:cs typeface="Arial" panose="020B0604020202020204" pitchFamily="34" charset="0"/>
              </a:rPr>
              <a:t>unified</a:t>
            </a:r>
            <a:r>
              <a:rPr lang="tr-T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tr-TR" dirty="0" err="1">
                <a:latin typeface="Arial" panose="020B0604020202020204" pitchFamily="34" charset="0"/>
                <a:cs typeface="Arial" panose="020B0604020202020204" pitchFamily="34" charset="0"/>
              </a:rPr>
              <a:t>system</a:t>
            </a:r>
            <a:r>
              <a:rPr lang="tr-T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tr-TR" dirty="0" err="1">
                <a:latin typeface="Arial" panose="020B0604020202020204" pitchFamily="34" charset="0"/>
                <a:cs typeface="Arial" panose="020B0604020202020204" pitchFamily="34" charset="0"/>
              </a:rPr>
              <a:t>that</a:t>
            </a:r>
            <a:r>
              <a:rPr lang="tr-T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tr-TR" dirty="0" err="1">
                <a:latin typeface="Arial" panose="020B0604020202020204" pitchFamily="34" charset="0"/>
                <a:cs typeface="Arial" panose="020B0604020202020204" pitchFamily="34" charset="0"/>
              </a:rPr>
              <a:t>manages</a:t>
            </a:r>
            <a:r>
              <a:rPr lang="tr-T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tr-TR" dirty="0" err="1">
                <a:latin typeface="Arial" panose="020B0604020202020204" pitchFamily="34" charset="0"/>
                <a:cs typeface="Arial" panose="020B0604020202020204" pitchFamily="34" charset="0"/>
              </a:rPr>
              <a:t>course</a:t>
            </a:r>
            <a:r>
              <a:rPr lang="tr-TR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tr-TR" dirty="0" err="1">
                <a:latin typeface="Arial" panose="020B0604020202020204" pitchFamily="34" charset="0"/>
                <a:cs typeface="Arial" panose="020B0604020202020204" pitchFamily="34" charset="0"/>
              </a:rPr>
              <a:t>schedules</a:t>
            </a:r>
            <a:r>
              <a:rPr lang="tr-TR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tr-TR" dirty="0" err="1">
                <a:latin typeface="Arial" panose="020B0604020202020204" pitchFamily="34" charset="0"/>
                <a:cs typeface="Arial" panose="020B0604020202020204" pitchFamily="34" charset="0"/>
              </a:rPr>
              <a:t>cafeteria</a:t>
            </a:r>
            <a:r>
              <a:rPr lang="tr-TR" dirty="0">
                <a:latin typeface="Arial" panose="020B0604020202020204" pitchFamily="34" charset="0"/>
                <a:cs typeface="Arial" panose="020B0604020202020204" pitchFamily="34" charset="0"/>
              </a:rPr>
              <a:t> menus, </a:t>
            </a:r>
            <a:r>
              <a:rPr lang="tr-TR" dirty="0" err="1">
                <a:latin typeface="Arial" panose="020B0604020202020204" pitchFamily="34" charset="0"/>
                <a:cs typeface="Arial" panose="020B0604020202020204" pitchFamily="34" charset="0"/>
              </a:rPr>
              <a:t>campus</a:t>
            </a:r>
            <a:r>
              <a:rPr lang="tr-T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tr-TR" dirty="0" err="1">
                <a:latin typeface="Arial" panose="020B0604020202020204" pitchFamily="34" charset="0"/>
                <a:cs typeface="Arial" panose="020B0604020202020204" pitchFamily="34" charset="0"/>
              </a:rPr>
              <a:t>events</a:t>
            </a:r>
            <a:r>
              <a:rPr lang="tr-TR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tr-TR" dirty="0" err="1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lang="tr-T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tr-TR" dirty="0" err="1">
                <a:latin typeface="Arial" panose="020B0604020202020204" pitchFamily="34" charset="0"/>
                <a:cs typeface="Arial" panose="020B0604020202020204" pitchFamily="34" charset="0"/>
              </a:rPr>
              <a:t>grade</a:t>
            </a:r>
            <a:r>
              <a:rPr lang="tr-T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tr-TR" dirty="0" err="1">
                <a:latin typeface="Arial" panose="020B0604020202020204" pitchFamily="34" charset="0"/>
                <a:cs typeface="Arial" panose="020B0604020202020204" pitchFamily="34" charset="0"/>
              </a:rPr>
              <a:t>calculations</a:t>
            </a:r>
            <a:endParaRPr lang="tr-T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 sz="2000"/>
            </a:pP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E6203-5856-B658-4EC7-C5D516F86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Rounded MT Bold" panose="020F0704030504030204" pitchFamily="34" charset="0"/>
              </a:rPr>
              <a:t>Solution Provided by Campus Assistant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007DF2-74B1-91A9-0E37-E974B3F279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tr-TR" dirty="0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 developed 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Campus Assistant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the first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Beykent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University–specific mobile application that brings all essential academic services together in a single platform.</a:t>
            </a:r>
            <a:endParaRPr lang="tr-T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tr-TR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avigation support was integrated to help students easily locate classrooms and lecture halls.</a:t>
            </a:r>
            <a:endParaRPr lang="tr-T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chatbox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was developed to enable direct communication between students and instructors.</a:t>
            </a:r>
            <a:endParaRPr lang="tr-T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09009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62C34-7786-BFBD-BA9A-1EF46EA19F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133" y="93134"/>
            <a:ext cx="7704667" cy="1981200"/>
          </a:xfrm>
        </p:spPr>
        <p:txBody>
          <a:bodyPr/>
          <a:lstStyle/>
          <a:p>
            <a:r>
              <a:rPr lang="tr-TR" dirty="0">
                <a:latin typeface="Arial Rounded MT Bold" panose="020F0704030504030204" pitchFamily="34" charset="0"/>
              </a:rPr>
              <a:t>Solution 1 – </a:t>
            </a:r>
            <a:r>
              <a:rPr lang="tr-TR" dirty="0" err="1">
                <a:latin typeface="Arial Rounded MT Bold" panose="020F0704030504030204" pitchFamily="34" charset="0"/>
              </a:rPr>
              <a:t>Campus</a:t>
            </a:r>
            <a:r>
              <a:rPr lang="tr-TR" dirty="0">
                <a:latin typeface="Arial Rounded MT Bold" panose="020F0704030504030204" pitchFamily="34" charset="0"/>
              </a:rPr>
              <a:t> </a:t>
            </a:r>
            <a:r>
              <a:rPr lang="tr-TR" dirty="0" err="1">
                <a:latin typeface="Arial Rounded MT Bold" panose="020F0704030504030204" pitchFamily="34" charset="0"/>
              </a:rPr>
              <a:t>Asisstant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778136B-391C-17BF-5190-36C8AC94B3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58067" y="1634067"/>
            <a:ext cx="3361266" cy="4868333"/>
          </a:xfrm>
        </p:spPr>
      </p:pic>
    </p:spTree>
    <p:extLst>
      <p:ext uri="{BB962C8B-B14F-4D97-AF65-F5344CB8AC3E}">
        <p14:creationId xmlns:p14="http://schemas.microsoft.com/office/powerpoint/2010/main" val="16827114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F7B229-BB8C-31C9-EA90-4B8F32830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BA459-2AE0-15F0-EA2C-EAF63225A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Rounded MT Bold" panose="020F0704030504030204" pitchFamily="34" charset="0"/>
              </a:rPr>
              <a:t>Solution Provided by Campus Assistant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7C1D8D-E425-A530-E6D6-32D677C776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tr-TR" dirty="0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 developed 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Campus Assistant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the first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Beykent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University–specific mobile application that brings all essential academic services together in a single platform.</a:t>
            </a:r>
            <a:endParaRPr lang="tr-T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tr-TR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avigation support was integrated to help students easily locate classrooms and lecture halls.</a:t>
            </a:r>
            <a:endParaRPr lang="tr-T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chatbox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was developed to enable direct communication between students and instructors.</a:t>
            </a:r>
            <a:endParaRPr lang="tr-T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21697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2EF34-53F3-45DC-2BE3-A199EDE8F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133" y="-131763"/>
            <a:ext cx="7704667" cy="1981200"/>
          </a:xfrm>
        </p:spPr>
        <p:txBody>
          <a:bodyPr/>
          <a:lstStyle/>
          <a:p>
            <a:r>
              <a:rPr lang="tr-TR" dirty="0">
                <a:latin typeface="Arial Rounded MT Bold" panose="020F0704030504030204" pitchFamily="34" charset="0"/>
              </a:rPr>
              <a:t>Solution 2 – Class </a:t>
            </a:r>
            <a:r>
              <a:rPr lang="tr-TR" dirty="0" err="1">
                <a:latin typeface="Arial Rounded MT Bold" panose="020F0704030504030204" pitchFamily="34" charset="0"/>
              </a:rPr>
              <a:t>Finder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FCBE2F4-BB84-D589-64FA-A06CA5B08E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26267" y="1227667"/>
            <a:ext cx="3826933" cy="5215465"/>
          </a:xfrm>
        </p:spPr>
      </p:pic>
    </p:spTree>
    <p:extLst>
      <p:ext uri="{BB962C8B-B14F-4D97-AF65-F5344CB8AC3E}">
        <p14:creationId xmlns:p14="http://schemas.microsoft.com/office/powerpoint/2010/main" val="3510208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C2DD39-B7C2-921D-098C-B34C217D04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BED335-35D6-6ABE-60B8-0CADF6D251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Rounded MT Bold" panose="020F0704030504030204" pitchFamily="34" charset="0"/>
              </a:rPr>
              <a:t>Solution Provided by Campus Assistant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A8F86A-BE9F-392D-2174-402C238905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tr-TR" dirty="0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 developed 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Campus Assistant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the first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Beykent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University–specific mobile application that brings all essential academic services together in a single platform.</a:t>
            </a:r>
            <a:endParaRPr lang="tr-T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tr-TR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avigation support was integrated to help students easily locate classrooms and lecture halls.</a:t>
            </a:r>
            <a:endParaRPr lang="tr-T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chatbox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was developed to enable direct communication between students and instructors.</a:t>
            </a:r>
            <a:endParaRPr lang="tr-T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88168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35525-1D30-9091-5E12-A8E26FA9E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397" y="254000"/>
            <a:ext cx="7704667" cy="1176868"/>
          </a:xfrm>
        </p:spPr>
        <p:txBody>
          <a:bodyPr/>
          <a:lstStyle/>
          <a:p>
            <a:r>
              <a:rPr lang="tr-TR" dirty="0">
                <a:latin typeface="Arial Rounded MT Bold" panose="020F0704030504030204" pitchFamily="34" charset="0"/>
              </a:rPr>
              <a:t>Solution 3 - </a:t>
            </a:r>
            <a:r>
              <a:rPr lang="tr-TR" dirty="0" err="1">
                <a:latin typeface="Arial Rounded MT Bold" panose="020F0704030504030204" pitchFamily="34" charset="0"/>
              </a:rPr>
              <a:t>Chatbox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53DA813-1C4A-767A-304C-E0BFF202E0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91933" y="1549400"/>
            <a:ext cx="3014134" cy="4936067"/>
          </a:xfrm>
        </p:spPr>
      </p:pic>
    </p:spTree>
    <p:extLst>
      <p:ext uri="{BB962C8B-B14F-4D97-AF65-F5344CB8AC3E}">
        <p14:creationId xmlns:p14="http://schemas.microsoft.com/office/powerpoint/2010/main" val="37575617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27367A-85B3-B34F-2836-3FE98622D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Rounded MT Bold" panose="020F0704030504030204" pitchFamily="34" charset="0"/>
              </a:rPr>
              <a:t>Technologies &amp; Tools Used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D27F4C9-3458-C252-F250-6FBEA1E8E70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73199" y="2691213"/>
            <a:ext cx="5799667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Flutter</a:t>
            </a:r>
            <a:endParaRPr kumimoji="0" lang="tr-TR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Material Design</a:t>
            </a:r>
            <a:endParaRPr kumimoji="0" lang="tr-TR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Mobile UI/UX principles</a:t>
            </a:r>
            <a:endParaRPr kumimoji="0" lang="tr-TR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Scalable architecture</a:t>
            </a:r>
          </a:p>
        </p:txBody>
      </p:sp>
    </p:spTree>
    <p:extLst>
      <p:ext uri="{BB962C8B-B14F-4D97-AF65-F5344CB8AC3E}">
        <p14:creationId xmlns:p14="http://schemas.microsoft.com/office/powerpoint/2010/main" val="40109835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3F812-1BC6-8C4F-2415-6E7800179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0533" y="660401"/>
            <a:ext cx="7704667" cy="1981200"/>
          </a:xfrm>
        </p:spPr>
        <p:txBody>
          <a:bodyPr/>
          <a:lstStyle/>
          <a:p>
            <a:r>
              <a:rPr lang="en-US" dirty="0">
                <a:latin typeface="Arial Rounded MT Bold" panose="020F0704030504030204" pitchFamily="34" charset="0"/>
              </a:rPr>
              <a:t>Future Improvements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757EB7E-7C90-7FC6-4FE9-DB0063B8F8A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073464" y="2558148"/>
            <a:ext cx="3239990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Integration with OBS system</a:t>
            </a:r>
            <a:endParaRPr kumimoji="0" lang="tr-TR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</a:t>
            </a:r>
            <a:r>
              <a:rPr kumimoji="0" lang="tr-T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tr-T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afeteria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API</a:t>
            </a:r>
            <a:endParaRPr kumimoji="0" lang="tr-TR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Push </a:t>
            </a:r>
            <a:r>
              <a:rPr kumimoji="0" lang="tr-T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otifications</a:t>
            </a:r>
            <a:endParaRPr kumimoji="0" lang="tr-TR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Dark </a:t>
            </a:r>
            <a:r>
              <a:rPr kumimoji="0" lang="tr-T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ode</a:t>
            </a:r>
            <a:endParaRPr kumimoji="0" lang="tr-TR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Campus </a:t>
            </a:r>
            <a:r>
              <a:rPr kumimoji="0" lang="tr-T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 </a:t>
            </a:r>
            <a:r>
              <a:rPr lang="tr-TR" altLang="en-US" sz="1800" dirty="0">
                <a:latin typeface="Arial" panose="020B0604020202020204" pitchFamily="34" charset="0"/>
              </a:rPr>
              <a:t>E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xpansion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44419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6D252-86DE-5AC8-87FC-C8DBAA61A0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133" y="1845733"/>
            <a:ext cx="7704667" cy="3166534"/>
          </a:xfrm>
        </p:spPr>
        <p:txBody>
          <a:bodyPr/>
          <a:lstStyle/>
          <a:p>
            <a:r>
              <a:rPr lang="en-US" dirty="0">
                <a:latin typeface="Arial Rounded MT Bold" panose="020F0704030504030204" pitchFamily="34" charset="0"/>
              </a:rPr>
              <a:t>Thank you for your time and attention</a:t>
            </a:r>
          </a:p>
        </p:txBody>
      </p:sp>
    </p:spTree>
    <p:extLst>
      <p:ext uri="{BB962C8B-B14F-4D97-AF65-F5344CB8AC3E}">
        <p14:creationId xmlns:p14="http://schemas.microsoft.com/office/powerpoint/2010/main" val="19473899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EBEBEB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79</TotalTime>
  <Words>374</Words>
  <Application>Microsoft Office PowerPoint</Application>
  <PresentationFormat>On-screen Show (4:3)</PresentationFormat>
  <Paragraphs>52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Arial Rounded MT Bold</vt:lpstr>
      <vt:lpstr>Corbel</vt:lpstr>
      <vt:lpstr>Parallax</vt:lpstr>
      <vt:lpstr>Campus Assıstant</vt:lpstr>
      <vt:lpstr>Campus Assistant</vt:lpstr>
      <vt:lpstr>Project Team &amp; Responsibilities</vt:lpstr>
      <vt:lpstr>Problem Definition</vt:lpstr>
      <vt:lpstr>Solution Provided by Campus Assistant</vt:lpstr>
      <vt:lpstr>Solution 1 – Campus Asisstant</vt:lpstr>
      <vt:lpstr>Solution Provided by Campus Assistant</vt:lpstr>
      <vt:lpstr>Solution 2 – Class Finder</vt:lpstr>
      <vt:lpstr>Solution Provided by Campus Assistant</vt:lpstr>
      <vt:lpstr>Solution 3 - Chatbox</vt:lpstr>
      <vt:lpstr>Technologies &amp; Tools Used</vt:lpstr>
      <vt:lpstr>Future Improvements</vt:lpstr>
      <vt:lpstr>Thank you for your time and attention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Deniz Umut Bayrak</dc:creator>
  <cp:keywords/>
  <dc:description>generated using python-pptx</dc:description>
  <cp:lastModifiedBy>Deniz Umut Bayrak</cp:lastModifiedBy>
  <cp:revision>3</cp:revision>
  <dcterms:created xsi:type="dcterms:W3CDTF">2013-01-27T09:14:16Z</dcterms:created>
  <dcterms:modified xsi:type="dcterms:W3CDTF">2026-01-15T15:21:03Z</dcterms:modified>
  <cp:category/>
</cp:coreProperties>
</file>